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400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PRISM: Protein-isoform Resolution via Intrinsic Sequence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93776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DD7EE"/>
                </a:solidFill>
              </a:rPr>
              <a:t>아이소폼 수준 기능 예측 — 문제 정의 &amp; 기존 방법의 한계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50040" y="228600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000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41248"/>
            <a:ext cx="5029200" cy="2468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86868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What is the problem?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5029200" cy="1188720"/>
          </a:xfrm>
          <a:prstGeom prst="rect">
            <a:avLst/>
          </a:prstGeom>
          <a:solidFill>
            <a:srgbClr val="E8F0FE"/>
          </a:solidFill>
          <a:ln w="1524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197864"/>
            <a:ext cx="4800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4E79"/>
                </a:solidFill>
              </a:rPr>
              <a:t>①  유전자 1개 → 여러 아이소폼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472184"/>
            <a:ext cx="4800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1010"/>
                </a:solidFill>
              </a:rPr>
              <a:t>Alternative splicing으로 하나의 유전자에서 수십 개의
단백질 아이소폼이 생성됨.
아이소폼마다 도메인 구성·기능이 상이.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441448"/>
            <a:ext cx="5029200" cy="1188720"/>
          </a:xfrm>
          <a:prstGeom prst="rect">
            <a:avLst/>
          </a:prstGeom>
          <a:solidFill>
            <a:srgbClr val="E8F0FE"/>
          </a:solidFill>
          <a:ln w="1524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496312"/>
            <a:ext cx="4800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4E79"/>
                </a:solidFill>
              </a:rPr>
              <a:t>②  기존 GO 어노테이션의 한계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770632"/>
            <a:ext cx="4800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1010"/>
                </a:solidFill>
              </a:rPr>
              <a:t>UniProt GO 라벨은 대부분 유전자 수준에서 부여됨.
어떤 아이소폼이 그 기능을 담당하는지 미지.
Single-cell 데이터에서 아이소폼 발현은 매우 희소.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739896"/>
            <a:ext cx="5029200" cy="1188720"/>
          </a:xfrm>
          <a:prstGeom prst="rect">
            <a:avLst/>
          </a:prstGeom>
          <a:solidFill>
            <a:srgbClr val="E8F0FE"/>
          </a:solidFill>
          <a:ln w="1524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3794759"/>
            <a:ext cx="4800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4E79"/>
                </a:solidFill>
              </a:rPr>
              <a:t>③  스플라이싱 이상 → 질환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4069080"/>
            <a:ext cx="4800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1010"/>
                </a:solidFill>
              </a:rPr>
              <a:t>알츠하이머(AD) 단일세포 데이터에서 특정 아이소폼
스위치가 관찰됨. 어떤 기능 변화인지 예측이 필요.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841248"/>
            <a:ext cx="6400800" cy="2468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59552" y="868680"/>
            <a:ext cx="6309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Why existing methods fail?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0" y="1143000"/>
            <a:ext cx="1783080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32120" y="1161288"/>
            <a:ext cx="16916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방법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1143000"/>
            <a:ext cx="1691640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20" y="1161288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대표 모델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1143000"/>
            <a:ext cx="2816352" cy="2560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1161288"/>
            <a:ext cx="27249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한계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0" y="1417320"/>
            <a:ext cx="1783080" cy="384048"/>
          </a:xfrm>
          <a:prstGeom prst="rect">
            <a:avLst/>
          </a:prstGeom>
          <a:solidFill>
            <a:srgbClr val="FF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32120" y="1453896"/>
            <a:ext cx="16916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1010"/>
                </a:solidFill>
              </a:rPr>
              <a:t>서열 상동성 기반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1417320"/>
            <a:ext cx="1691640" cy="384048"/>
          </a:xfrm>
          <a:prstGeom prst="rect">
            <a:avLst/>
          </a:prstGeom>
          <a:solidFill>
            <a:srgbClr val="FF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60920" y="1453896"/>
            <a:ext cx="1600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1010"/>
                </a:solidFill>
              </a:rPr>
              <a:t>BLAST→GOA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52560" y="1417320"/>
            <a:ext cx="2816352" cy="384048"/>
          </a:xfrm>
          <a:prstGeom prst="rect">
            <a:avLst/>
          </a:prstGeom>
          <a:solidFill>
            <a:srgbClr val="FF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80" y="1453896"/>
            <a:ext cx="2724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0000"/>
                </a:solidFill>
              </a:rPr>
              <a:t>아이소폼 구별 불가 — 유전자 단위 전파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0" y="1819656"/>
            <a:ext cx="178308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32120" y="1856231"/>
            <a:ext cx="16916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1010"/>
                </a:solidFill>
              </a:rPr>
              <a:t>도메인 어노테이션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0" y="1819656"/>
            <a:ext cx="169164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60920" y="1856231"/>
            <a:ext cx="1600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1010"/>
                </a:solidFill>
              </a:rPr>
              <a:t>Pfam LR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52560" y="1819656"/>
            <a:ext cx="281635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1856231"/>
            <a:ext cx="2724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0000"/>
                </a:solidFill>
              </a:rPr>
              <a:t>알려진 도메인만 처리 (novel isoform 제외)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0" y="2221992"/>
            <a:ext cx="1783080" cy="384048"/>
          </a:xfrm>
          <a:prstGeom prst="rect">
            <a:avLst/>
          </a:prstGeom>
          <a:solidFill>
            <a:srgbClr val="FF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32120" y="2258568"/>
            <a:ext cx="16916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1010"/>
                </a:solidFill>
              </a:rPr>
              <a:t>구조 예측 기반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0" y="2221992"/>
            <a:ext cx="1691640" cy="384048"/>
          </a:xfrm>
          <a:prstGeom prst="rect">
            <a:avLst/>
          </a:prstGeom>
          <a:solidFill>
            <a:srgbClr val="FF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60920" y="2258568"/>
            <a:ext cx="1600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1010"/>
                </a:solidFill>
              </a:rPr>
              <a:t>DeepFRI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52560" y="2221992"/>
            <a:ext cx="2816352" cy="384048"/>
          </a:xfrm>
          <a:prstGeom prst="rect">
            <a:avLst/>
          </a:prstGeom>
          <a:solidFill>
            <a:srgbClr val="FF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98280" y="2258568"/>
            <a:ext cx="2724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0000"/>
                </a:solidFill>
              </a:rPr>
              <a:t>canonical 단백질 훈련 → 아이소폼 OOD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0" y="2624328"/>
            <a:ext cx="178308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32120" y="2660904"/>
            <a:ext cx="16916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1010"/>
                </a:solidFill>
              </a:rPr>
              <a:t>파인튜닝 ESM-2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0" y="2624328"/>
            <a:ext cx="169164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60920" y="2660904"/>
            <a:ext cx="1600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1010"/>
                </a:solidFill>
              </a:rPr>
              <a:t>D0/D1 MLP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52560" y="2624328"/>
            <a:ext cx="281635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98280" y="2660904"/>
            <a:ext cx="2724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0000"/>
                </a:solidFill>
              </a:rPr>
              <a:t>사전학습 신호 손상 → v17f*보다 낮음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0" y="3026664"/>
            <a:ext cx="1783080" cy="384048"/>
          </a:xfrm>
          <a:prstGeom prst="rect">
            <a:avLst/>
          </a:prstGeom>
          <a:solidFill>
            <a:srgbClr val="FF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32120" y="3063240"/>
            <a:ext cx="16916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1010"/>
                </a:solidFill>
              </a:rPr>
              <a:t>유전자 평균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15200" y="3026664"/>
            <a:ext cx="1691640" cy="384048"/>
          </a:xfrm>
          <a:prstGeom prst="rect">
            <a:avLst/>
          </a:prstGeom>
          <a:solidFill>
            <a:srgbClr val="FF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60920" y="3063240"/>
            <a:ext cx="1600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1010"/>
                </a:solidFill>
              </a:rPr>
              <a:t>Gene-mean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52560" y="3026664"/>
            <a:ext cx="2816352" cy="384048"/>
          </a:xfrm>
          <a:prstGeom prst="rect">
            <a:avLst/>
          </a:prstGeom>
          <a:solidFill>
            <a:srgbClr val="FF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98280" y="3063240"/>
            <a:ext cx="2724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0000"/>
                </a:solidFill>
              </a:rPr>
              <a:t>L2 Struct AUPRC = 0.500 (수학적 무정보)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0" y="3657600"/>
            <a:ext cx="6446520" cy="2560320"/>
          </a:xfrm>
          <a:prstGeom prst="rect">
            <a:avLst/>
          </a:prstGeom>
          <a:solidFill>
            <a:srgbClr val="E8F5E9"/>
          </a:solidFill>
          <a:ln w="19050">
            <a:solidFill>
              <a:srgbClr val="378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596128" y="3694176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8644"/>
                </a:solidFill>
              </a:rPr>
              <a:t>✦  PRISM의 접근법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23560" y="4005072"/>
            <a:ext cx="6172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78644"/>
                </a:solidFill>
              </a:rPr>
              <a:t>▸  아이소폼-특이 임베딩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87568" y="4242816"/>
            <a:ext cx="61081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1010"/>
                </a:solidFill>
              </a:rPr>
              <a:t>ESM-2 사전학습 모델의 두 레이어 차이(δ_layer)를 사용
→ 유전자-공통 특성을 소거하고 아이소폼 고유 변화만 포착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23560" y="4718304"/>
            <a:ext cx="6172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78644"/>
                </a:solidFill>
              </a:rPr>
              <a:t>▸  희소 라벨 처리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87568" y="4956048"/>
            <a:ext cx="61081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1010"/>
                </a:solidFill>
              </a:rPr>
              <a:t>Focal Loss (γ=2): 전체 82 GO term 중 각 아이소폼이
보유하는 기능은 극소수 → 희귀 positive에 가중 집중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23560" y="5431536"/>
            <a:ext cx="6172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78644"/>
                </a:solidFill>
              </a:rPr>
              <a:t>▸  제로샷 전이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87568" y="5669279"/>
            <a:ext cx="61081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1010"/>
                </a:solidFill>
              </a:rPr>
              <a:t>근육 데이터(31,668 isoforms)로 훈련 →
뇌 데이터(36,748 isoforms) 재훈련 없이 직접 추론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4320" y="6638544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0A0A0"/>
                </a:solidFill>
              </a:rPr>
              <a:t>PRISM · v17f* · 2026-07-02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750040" y="6638544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0A0A0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400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전체 파이프라인 — 데이터 흐름 &amp; Tensor 크기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93776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DD7EE"/>
                </a:solidFill>
              </a:rPr>
              <a:t>Raw Sequence → ESM-2 Embedding → δ_layer → MLP → GO Prediction → BISECT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50040" y="228600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000"/>
                </a:solidFill>
              </a:rPr>
              <a:t>2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04672"/>
            <a:ext cx="11750040" cy="4846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638544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0A0A0"/>
                </a:solidFill>
              </a:rPr>
              <a:t>PRISM · v17f* · 2026-07-02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50040" y="6638544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0A0A0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400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입력 / 출력 데이터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93776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DD7EE"/>
                </a:solidFill>
              </a:rPr>
              <a:t>Dataset · Pre-processing · Label · Output Format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50040" y="228600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000"/>
                </a:solidFill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841248"/>
            <a:ext cx="5669280" cy="2468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" y="868680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① 입력 데이터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115568"/>
            <a:ext cx="2880360" cy="457200"/>
          </a:xfrm>
          <a:prstGeom prst="rect">
            <a:avLst/>
          </a:prstGeom>
          <a:solidFill>
            <a:srgbClr val="1F4E79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152144"/>
            <a:ext cx="2788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</a:rPr>
              <a:t>항목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115568"/>
            <a:ext cx="2286000" cy="457200"/>
          </a:xfrm>
          <a:prstGeom prst="rect">
            <a:avLst/>
          </a:prstGeom>
          <a:solidFill>
            <a:srgbClr val="1F4E79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1152144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</a:rPr>
              <a:t>훈련 (Muscle)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1115568"/>
            <a:ext cx="2240280" cy="457200"/>
          </a:xfrm>
          <a:prstGeom prst="rect">
            <a:avLst/>
          </a:prstGeom>
          <a:solidFill>
            <a:srgbClr val="1F4E79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32120" y="1152144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</a:rPr>
              <a:t>추론 (Brain)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1591056"/>
            <a:ext cx="2880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627632"/>
            <a:ext cx="2788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1F4E79"/>
                </a:solidFill>
              </a:rPr>
              <a:t>데이터셋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54680" y="1591056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1627632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01010"/>
                </a:solidFill>
              </a:rPr>
              <a:t>hMuscle (SRA long-read)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1591056"/>
            <a:ext cx="2240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32120" y="1627632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01010"/>
                </a:solidFill>
              </a:rPr>
              <a:t>Samsung Brain AD 코호트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2066543"/>
            <a:ext cx="2880360" cy="457200"/>
          </a:xfrm>
          <a:prstGeom prst="rect">
            <a:avLst/>
          </a:prstGeom>
          <a:solidFill>
            <a:srgbClr val="DDEBF7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2103120"/>
            <a:ext cx="2788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1F4E79"/>
                </a:solidFill>
              </a:rPr>
              <a:t>아이소폼 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54680" y="2066543"/>
            <a:ext cx="2286000" cy="457200"/>
          </a:xfrm>
          <a:prstGeom prst="rect">
            <a:avLst/>
          </a:prstGeom>
          <a:solidFill>
            <a:srgbClr val="DDEBF7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0" y="2103120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01010"/>
                </a:solidFill>
              </a:rPr>
              <a:t>31,668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2066543"/>
            <a:ext cx="2240280" cy="457200"/>
          </a:xfrm>
          <a:prstGeom prst="rect">
            <a:avLst/>
          </a:prstGeom>
          <a:solidFill>
            <a:srgbClr val="DDEBF7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32120" y="2103120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01010"/>
                </a:solidFill>
              </a:rPr>
              <a:t>36,748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2542032"/>
            <a:ext cx="2880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2578608"/>
            <a:ext cx="2788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1F4E79"/>
                </a:solidFill>
              </a:rPr>
              <a:t>세포 수 / 유형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54680" y="2542032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0" y="2578608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01010"/>
                </a:solidFill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2542032"/>
            <a:ext cx="2240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32120" y="2578608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01010"/>
                </a:solidFill>
              </a:rPr>
              <a:t>63,994 세포 · 672 cell types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3017520"/>
            <a:ext cx="2880360" cy="457200"/>
          </a:xfrm>
          <a:prstGeom prst="rect">
            <a:avLst/>
          </a:prstGeom>
          <a:solidFill>
            <a:srgbClr val="DDEBF7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3054096"/>
            <a:ext cx="2788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1F4E79"/>
                </a:solidFill>
              </a:rPr>
              <a:t>원시 입력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54680" y="3017520"/>
            <a:ext cx="2286000" cy="457200"/>
          </a:xfrm>
          <a:prstGeom prst="rect">
            <a:avLst/>
          </a:prstGeom>
          <a:solidFill>
            <a:srgbClr val="DDEBF7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0" y="3054096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01010"/>
                </a:solidFill>
              </a:rPr>
              <a:t>아이소폼 단백질 서열 (FASTA)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0" y="3017520"/>
            <a:ext cx="2240280" cy="457200"/>
          </a:xfrm>
          <a:prstGeom prst="rect">
            <a:avLst/>
          </a:prstGeom>
          <a:solidFill>
            <a:srgbClr val="DDEBF7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32120" y="3054096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01010"/>
                </a:solidFill>
              </a:rPr>
              <a:t>동일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" y="3493008"/>
            <a:ext cx="2880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3529584"/>
            <a:ext cx="2788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1F4E79"/>
                </a:solidFill>
              </a:rPr>
              <a:t>ESM-2 레이어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54680" y="3493008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0" y="3529584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01010"/>
                </a:solidFill>
              </a:rPr>
              <a:t>L15 · L30 각 640-dim
→ .npy 파일 (31668 × 640)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0" y="3493008"/>
            <a:ext cx="2240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32120" y="3529584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01010"/>
                </a:solidFill>
              </a:rPr>
              <a:t>동일 추출
→ .npy (36748 × 640)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" y="3968496"/>
            <a:ext cx="2880360" cy="457200"/>
          </a:xfrm>
          <a:prstGeom prst="rect">
            <a:avLst/>
          </a:prstGeom>
          <a:solidFill>
            <a:srgbClr val="DDEBF7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4005072"/>
            <a:ext cx="2788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1F4E79"/>
                </a:solidFill>
              </a:rPr>
              <a:t>δ_layer 크기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54680" y="3968496"/>
            <a:ext cx="2286000" cy="457200"/>
          </a:xfrm>
          <a:prstGeom prst="rect">
            <a:avLst/>
          </a:prstGeom>
          <a:solidFill>
            <a:srgbClr val="DDEBF7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0" y="4005072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01010"/>
                </a:solidFill>
              </a:rPr>
              <a:t>(31668, 640)  float32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0" y="3968496"/>
            <a:ext cx="2240280" cy="457200"/>
          </a:xfrm>
          <a:prstGeom prst="rect">
            <a:avLst/>
          </a:prstGeom>
          <a:solidFill>
            <a:srgbClr val="DDEBF7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32120" y="4005072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01010"/>
                </a:solidFill>
              </a:rPr>
              <a:t>(36748, 640)  float32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8600" y="4443984"/>
            <a:ext cx="2880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4480560"/>
            <a:ext cx="2788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1F4E79"/>
                </a:solidFill>
              </a:rPr>
              <a:t>파일 형식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154680" y="4443984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0" y="4480560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01010"/>
                </a:solidFill>
              </a:rPr>
              <a:t>hMuscle/data/*.npy  (pre-computed)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0" y="4443984"/>
            <a:ext cx="2240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32120" y="4480560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01010"/>
                </a:solidFill>
              </a:rPr>
              <a:t>동일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" y="5166360"/>
            <a:ext cx="3657600" cy="2468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01752" y="5193792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② 라벨 (GO Term)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28600" y="5440680"/>
            <a:ext cx="1645920" cy="246888"/>
          </a:xfrm>
          <a:prstGeom prst="rect">
            <a:avLst/>
          </a:prstGeom>
          <a:solidFill>
            <a:srgbClr val="E2E8FF"/>
          </a:solidFill>
          <a:ln w="508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4320" y="546811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E79"/>
                </a:solidFill>
              </a:rPr>
              <a:t>GO 도메인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883664" y="5440680"/>
            <a:ext cx="2148840" cy="246888"/>
          </a:xfrm>
          <a:prstGeom prst="rect">
            <a:avLst/>
          </a:prstGeom>
          <a:solidFill>
            <a:srgbClr val="F0F4FF"/>
          </a:solidFill>
          <a:ln w="508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929384" y="5468112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01010"/>
                </a:solidFill>
              </a:rPr>
              <a:t>MF (분자 기능)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28600" y="5696712"/>
            <a:ext cx="1645920" cy="246888"/>
          </a:xfrm>
          <a:prstGeom prst="rect">
            <a:avLst/>
          </a:prstGeom>
          <a:solidFill>
            <a:srgbClr val="E2E8FF"/>
          </a:solidFill>
          <a:ln w="508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4320" y="572414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E79"/>
                </a:solidFill>
              </a:rPr>
              <a:t>Terms 수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883664" y="5696712"/>
            <a:ext cx="2148840" cy="246888"/>
          </a:xfrm>
          <a:prstGeom prst="rect">
            <a:avLst/>
          </a:prstGeom>
          <a:solidFill>
            <a:srgbClr val="FFFFFF"/>
          </a:solidFill>
          <a:ln w="508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929384" y="5724144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01010"/>
                </a:solidFill>
              </a:rPr>
              <a:t>82개  (Evidence Code 포함 IEA 기준)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8600" y="5952744"/>
            <a:ext cx="1645920" cy="246888"/>
          </a:xfrm>
          <a:prstGeom prst="rect">
            <a:avLst/>
          </a:prstGeom>
          <a:solidFill>
            <a:srgbClr val="E2E8FF"/>
          </a:solidFill>
          <a:ln w="508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74320" y="598017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E79"/>
                </a:solidFill>
              </a:rPr>
              <a:t>라벨 형식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83664" y="5952744"/>
            <a:ext cx="2148840" cy="246888"/>
          </a:xfrm>
          <a:prstGeom prst="rect">
            <a:avLst/>
          </a:prstGeom>
          <a:solidFill>
            <a:srgbClr val="F0F4FF"/>
          </a:solidFill>
          <a:ln w="508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929384" y="5980176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01010"/>
                </a:solidFill>
              </a:rPr>
              <a:t>Binary  0 / 1 per term per isoform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28600" y="6208776"/>
            <a:ext cx="1645920" cy="246888"/>
          </a:xfrm>
          <a:prstGeom prst="rect">
            <a:avLst/>
          </a:prstGeom>
          <a:solidFill>
            <a:srgbClr val="E2E8FF"/>
          </a:solidFill>
          <a:ln w="508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74320" y="62362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E79"/>
                </a:solidFill>
              </a:rPr>
              <a:t>Label 희소성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883664" y="6208776"/>
            <a:ext cx="2148840" cy="246888"/>
          </a:xfrm>
          <a:prstGeom prst="rect">
            <a:avLst/>
          </a:prstGeom>
          <a:solidFill>
            <a:srgbClr val="FFFFFF"/>
          </a:solidFill>
          <a:ln w="508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929384" y="6236208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01010"/>
                </a:solidFill>
              </a:rPr>
              <a:t>평균 positive rate &lt; 5% per term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28600" y="6464808"/>
            <a:ext cx="1645920" cy="246888"/>
          </a:xfrm>
          <a:prstGeom prst="rect">
            <a:avLst/>
          </a:prstGeom>
          <a:solidFill>
            <a:srgbClr val="E2E8FF"/>
          </a:solidFill>
          <a:ln w="508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74320" y="649224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E79"/>
                </a:solidFill>
              </a:rPr>
              <a:t>Label 출처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883664" y="6464808"/>
            <a:ext cx="2148840" cy="246888"/>
          </a:xfrm>
          <a:prstGeom prst="rect">
            <a:avLst/>
          </a:prstGeom>
          <a:solidFill>
            <a:srgbClr val="F0F4FF"/>
          </a:solidFill>
          <a:ln w="508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929384" y="6492240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01010"/>
                </a:solidFill>
              </a:rPr>
              <a:t>GOA (gene-level) → 아이소폼 전파 (heuristic)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818120" y="841248"/>
            <a:ext cx="4160520" cy="2468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891272" y="868680"/>
            <a:ext cx="4069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③ 출력 데이터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818120" y="1115568"/>
            <a:ext cx="1508760" cy="640080"/>
          </a:xfrm>
          <a:prstGeom prst="rect">
            <a:avLst/>
          </a:prstGeom>
          <a:solidFill>
            <a:srgbClr val="FFF0E0"/>
          </a:solidFill>
          <a:ln w="1016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882127" y="115214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D7D31"/>
                </a:solidFill>
              </a:rPr>
              <a:t>텐서 크기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336024" y="1115568"/>
            <a:ext cx="2606040" cy="640080"/>
          </a:xfrm>
          <a:prstGeom prst="rect">
            <a:avLst/>
          </a:prstGeom>
          <a:solidFill>
            <a:srgbClr val="FFFBF5"/>
          </a:solidFill>
          <a:ln w="508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390888" y="1188720"/>
            <a:ext cx="2514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1010"/>
                </a:solidFill>
              </a:rPr>
              <a:t>( N_isoforms,  82 )  float32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818120" y="1773936"/>
            <a:ext cx="1508760" cy="640080"/>
          </a:xfrm>
          <a:prstGeom prst="rect">
            <a:avLst/>
          </a:prstGeom>
          <a:solidFill>
            <a:srgbClr val="FFF0E0"/>
          </a:solidFill>
          <a:ln w="1016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882127" y="181051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D7D31"/>
                </a:solidFill>
              </a:rPr>
              <a:t>값 범위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336024" y="1773936"/>
            <a:ext cx="2606040" cy="640080"/>
          </a:xfrm>
          <a:prstGeom prst="rect">
            <a:avLst/>
          </a:prstGeom>
          <a:solidFill>
            <a:srgbClr val="FFFBF5"/>
          </a:solidFill>
          <a:ln w="508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390888" y="1847088"/>
            <a:ext cx="2514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1010"/>
                </a:solidFill>
              </a:rPr>
              <a:t>∈ [ 0, 1 ]   (Sigmoid 출력)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818120" y="2432304"/>
            <a:ext cx="1508760" cy="640080"/>
          </a:xfrm>
          <a:prstGeom prst="rect">
            <a:avLst/>
          </a:prstGeom>
          <a:solidFill>
            <a:srgbClr val="FFF0E0"/>
          </a:solidFill>
          <a:ln w="1016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882127" y="246888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D7D31"/>
                </a:solidFill>
              </a:rPr>
              <a:t>의미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336024" y="2432304"/>
            <a:ext cx="2606040" cy="640080"/>
          </a:xfrm>
          <a:prstGeom prst="rect">
            <a:avLst/>
          </a:prstGeom>
          <a:solidFill>
            <a:srgbClr val="FFFBF5"/>
          </a:solidFill>
          <a:ln w="508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390888" y="2505456"/>
            <a:ext cx="2514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1010"/>
                </a:solidFill>
              </a:rPr>
              <a:t>P(isoform i has GO term j)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818120" y="3090672"/>
            <a:ext cx="1508760" cy="640080"/>
          </a:xfrm>
          <a:prstGeom prst="rect">
            <a:avLst/>
          </a:prstGeom>
          <a:solidFill>
            <a:srgbClr val="FFF0E0"/>
          </a:solidFill>
          <a:ln w="1016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882127" y="312724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D7D31"/>
                </a:solidFill>
              </a:rPr>
              <a:t>파일 형식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336024" y="3090672"/>
            <a:ext cx="2606040" cy="640080"/>
          </a:xfrm>
          <a:prstGeom prst="rect">
            <a:avLst/>
          </a:prstGeom>
          <a:solidFill>
            <a:srgbClr val="FFFBF5"/>
          </a:solidFill>
          <a:ln w="508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390888" y="3163824"/>
            <a:ext cx="2514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1010"/>
                </a:solidFill>
              </a:rPr>
              <a:t>.npy  / JSON (meta)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818120" y="3749039"/>
            <a:ext cx="1508760" cy="640080"/>
          </a:xfrm>
          <a:prstGeom prst="rect">
            <a:avLst/>
          </a:prstGeom>
          <a:solidFill>
            <a:srgbClr val="FFF0E0"/>
          </a:solidFill>
          <a:ln w="1016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882127" y="3785615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D7D31"/>
                </a:solidFill>
              </a:rPr>
              <a:t>후처리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336024" y="3749039"/>
            <a:ext cx="2606040" cy="640080"/>
          </a:xfrm>
          <a:prstGeom prst="rect">
            <a:avLst/>
          </a:prstGeom>
          <a:solidFill>
            <a:srgbClr val="FFFBF5"/>
          </a:solidFill>
          <a:ln w="508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390888" y="3822191"/>
            <a:ext cx="2514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1010"/>
                </a:solidFill>
              </a:rPr>
              <a:t>82-dim 벡터 → BISECT 입력
(아이소폼 쌍 간 점수 비교)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818120" y="4407407"/>
            <a:ext cx="1508760" cy="640080"/>
          </a:xfrm>
          <a:prstGeom prst="rect">
            <a:avLst/>
          </a:prstGeom>
          <a:solidFill>
            <a:srgbClr val="FFF0E0"/>
          </a:solidFill>
          <a:ln w="1016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882127" y="4443983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D7D31"/>
                </a:solidFill>
              </a:rPr>
              <a:t>평가 기준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336024" y="4407407"/>
            <a:ext cx="2606040" cy="640080"/>
          </a:xfrm>
          <a:prstGeom prst="rect">
            <a:avLst/>
          </a:prstGeom>
          <a:solidFill>
            <a:srgbClr val="FFFBF5"/>
          </a:solidFill>
          <a:ln w="508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390888" y="4480559"/>
            <a:ext cx="2514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1010"/>
                </a:solidFill>
              </a:rPr>
              <a:t>Macro AUPRC (primary)
L2_Struct AUPRC (isoform-specific)</a:t>
            </a:r>
          </a:p>
        </p:txBody>
      </p:sp>
      <p:pic>
        <p:nvPicPr>
          <p:cNvPr id="105" name="Picture 10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5074920"/>
            <a:ext cx="4160520" cy="1508760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274320" y="6638544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0A0A0"/>
                </a:solidFill>
              </a:rPr>
              <a:t>PRISM · v17f* · 2026-07-02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1750040" y="6638544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0A0A0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400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모델 아키텍처 상세 — v17f* (최종 확정 모델)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93776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DD7EE"/>
                </a:solidFill>
              </a:rPr>
              <a:t>ESM-2 Layer-Differential Embedding  ⊕  3-Layer MLP  ⊕  Focal 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50040" y="228600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000"/>
                </a:solidFill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822960"/>
            <a:ext cx="6949440" cy="2468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" y="850392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① ESM-2 Layer-Differential Embedding (핵심 혁신)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78992"/>
            <a:ext cx="6949440" cy="42062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406640" y="822960"/>
            <a:ext cx="4572000" cy="2468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79792" y="850392"/>
            <a:ext cx="4480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② v17f* MLP 아키텍처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078992"/>
            <a:ext cx="4572000" cy="45720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28600" y="5376672"/>
            <a:ext cx="11750040" cy="1325880"/>
          </a:xfrm>
          <a:prstGeom prst="rect">
            <a:avLst/>
          </a:prstGeom>
          <a:solidFill>
            <a:srgbClr val="F0F4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540410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E79"/>
                </a:solidFill>
              </a:rPr>
              <a:t>훈련 설정 (Training Configuration)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56875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E79"/>
                </a:solidFill>
              </a:rPr>
              <a:t>Loss Function: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5687568"/>
            <a:ext cx="19202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01010"/>
                </a:solidFill>
              </a:rPr>
              <a:t>BinaryFocalCrossentropy  (γ = 2.0)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59984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E79"/>
                </a:solidFill>
              </a:rPr>
              <a:t>Optimizer: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5998464"/>
            <a:ext cx="19202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01010"/>
                </a:solidFill>
              </a:rPr>
              <a:t>Adam  (default lr)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30935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E79"/>
                </a:solidFill>
              </a:rPr>
              <a:t>Ensemble: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6309359"/>
            <a:ext cx="19202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01010"/>
                </a:solidFill>
              </a:rPr>
              <a:t>N seeds 평균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6875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E79"/>
                </a:solidFill>
              </a:rPr>
              <a:t>Threshold: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6048" y="5687568"/>
            <a:ext cx="2377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01010"/>
                </a:solidFill>
              </a:rPr>
              <a:t>0.5  (binary classification)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59984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E79"/>
                </a:solidFill>
              </a:rPr>
              <a:t>훈련 데이터: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56048" y="5998464"/>
            <a:ext cx="2377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01010"/>
                </a:solidFill>
              </a:rPr>
              <a:t>hMuscle  31,668 isoforms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630935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E79"/>
                </a:solidFill>
              </a:rPr>
              <a:t>추론 데이터: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56048" y="6309359"/>
            <a:ext cx="2377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01010"/>
                </a:solidFill>
              </a:rPr>
              <a:t>Brain  36,748 isoforms  (zero-shot)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56875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E79"/>
                </a:solidFill>
              </a:rPr>
              <a:t>GO Terms: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50808" y="5687568"/>
            <a:ext cx="2377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01010"/>
                </a:solidFill>
              </a:rPr>
              <a:t>82 MF terms  (multi-label)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59984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E79"/>
                </a:solidFill>
              </a:rPr>
              <a:t>ESM-2 모델: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50808" y="5998464"/>
            <a:ext cx="2377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01010"/>
                </a:solidFill>
              </a:rPr>
              <a:t>esm2_t30_150M_UR50D  (frozen)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6638544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0A0A0"/>
                </a:solidFill>
              </a:rPr>
              <a:t>PRISM · v17f* · 2026-07-02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50040" y="6638544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0A0A0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400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출력 해석 &amp; 다운스트림 분석 (BISECT) + 핵심 검증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93776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DD7EE"/>
                </a:solidFill>
              </a:rPr>
              <a:t>GO Score 출력 → 아이소폼 쌍 비교 → 기능 변화 케이스 발굴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50040" y="228600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000"/>
                </a:solidFill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822960"/>
            <a:ext cx="5303520" cy="2468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" y="850392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① PRISM 출력 해석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115568"/>
            <a:ext cx="5303520" cy="1417320"/>
          </a:xfrm>
          <a:prstGeom prst="rect">
            <a:avLst/>
          </a:prstGeom>
          <a:solidFill>
            <a:srgbClr val="F0F4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152144"/>
            <a:ext cx="5074920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1010"/>
                </a:solidFill>
              </a:rPr>
              <a:t>출력:  P(GO term j  |  isoform i)  ∈ [0, 1]
형태:  (N_isoforms,  82)  float32
같은 유전자의 두 아이소폼 A, B에 대해:
  ΔPRISM = Score(A) − Score(B)
  → ΔPRISM &gt; 0:  A가 해당 기능을 더 강하게 보유
  → |ΔPRISM| 클수록 → 고신뢰 기능 분기 케이스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578608"/>
            <a:ext cx="5303520" cy="16916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28600" y="4389120"/>
            <a:ext cx="5303520" cy="2468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" y="4416552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② BISECT 다운스트림 파이프라인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4663440"/>
            <a:ext cx="1234440" cy="914400"/>
          </a:xfrm>
          <a:prstGeom prst="rect">
            <a:avLst/>
          </a:prstGeom>
          <a:solidFill>
            <a:srgbClr val="E2E2FF"/>
          </a:solidFill>
          <a:ln w="1270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" y="4690872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500080"/>
                </a:solidFill>
              </a:rPr>
              <a:t>DTU 스크린
(DRIMSeq+stageR)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" y="5065776"/>
            <a:ext cx="1143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101010"/>
                </a:solidFill>
              </a:rPr>
              <a:t>pseudobulk donor
replicate 기반
14 genes 검출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9616" y="5029200"/>
            <a:ext cx="1097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0A0A0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91056" y="4663440"/>
            <a:ext cx="1234440" cy="914400"/>
          </a:xfrm>
          <a:prstGeom prst="rect">
            <a:avLst/>
          </a:prstGeom>
          <a:solidFill>
            <a:srgbClr val="E2E2FF"/>
          </a:solidFill>
          <a:ln w="1270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36776" y="4690872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500080"/>
                </a:solidFill>
              </a:rPr>
              <a:t>PRISM 점수 비교
ΔScore 계산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36776" y="5065776"/>
            <a:ext cx="1143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101010"/>
                </a:solidFill>
              </a:rPr>
              <a:t>AD vs CT 아이소폼
기능 분기 정량화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5029200"/>
            <a:ext cx="1097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0A0A0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4663440"/>
            <a:ext cx="1234440" cy="914400"/>
          </a:xfrm>
          <a:prstGeom prst="rect">
            <a:avLst/>
          </a:prstGeom>
          <a:solidFill>
            <a:srgbClr val="E2E2FF"/>
          </a:solidFill>
          <a:ln w="1270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71800" y="4690872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500080"/>
                </a:solidFill>
              </a:rPr>
              <a:t>BISECT 15-모듈
독립 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5065776"/>
            <a:ext cx="1143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101010"/>
                </a:solidFill>
              </a:rPr>
              <a:t>Domain/NMD/LOC
수렴 확인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9664" y="5029200"/>
            <a:ext cx="1097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0A0A0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61104" y="4663440"/>
            <a:ext cx="1234440" cy="914400"/>
          </a:xfrm>
          <a:prstGeom prst="rect">
            <a:avLst/>
          </a:prstGeom>
          <a:solidFill>
            <a:srgbClr val="E2E2FF"/>
          </a:solidFill>
          <a:ln w="1270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06824" y="4690872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500080"/>
                </a:solidFill>
              </a:rPr>
              <a:t>Tier 분류
(A-DR/A-BP/B/C)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06824" y="5065776"/>
            <a:ext cx="1143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101010"/>
                </a:solidFill>
              </a:rPr>
              <a:t>고신뢰 기능 변화
케이스 출력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15000" y="822960"/>
            <a:ext cx="6263640" cy="2468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88152" y="850392"/>
            <a:ext cx="6172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③ 핵심 검증 결과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15000" y="1115568"/>
            <a:ext cx="6263640" cy="1417320"/>
          </a:xfrm>
          <a:prstGeom prst="rect">
            <a:avLst/>
          </a:prstGeom>
          <a:solidFill>
            <a:srgbClr val="E8F5E9"/>
          </a:solidFill>
          <a:ln w="15240">
            <a:solidFill>
              <a:srgbClr val="378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33872" y="1143000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78644"/>
                </a:solidFill>
              </a:rPr>
              <a:t>v17f* 최종 성능 (Brain MF, 36,748 isoforms)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15000" y="1417320"/>
            <a:ext cx="1737360" cy="265176"/>
          </a:xfrm>
          <a:prstGeom prst="rect">
            <a:avLst/>
          </a:prstGeom>
          <a:solidFill>
            <a:srgbClr val="1F4E79"/>
          </a:solidFill>
          <a:ln w="508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51576" y="1444752"/>
            <a:ext cx="1664207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 i="0">
                <a:solidFill>
                  <a:srgbClr val="FFFFFF"/>
                </a:solidFill>
              </a:rPr>
              <a:t>지표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8079" y="1417320"/>
            <a:ext cx="1600200" cy="265176"/>
          </a:xfrm>
          <a:prstGeom prst="rect">
            <a:avLst/>
          </a:prstGeom>
          <a:solidFill>
            <a:srgbClr val="1F4E79"/>
          </a:solidFill>
          <a:ln w="508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34655" y="1444752"/>
            <a:ext cx="152704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 i="0">
                <a:solidFill>
                  <a:srgbClr val="FFFFFF"/>
                </a:solidFill>
              </a:rPr>
              <a:t>v17f* (ours)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1417320"/>
            <a:ext cx="1325880" cy="265176"/>
          </a:xfrm>
          <a:prstGeom prst="rect">
            <a:avLst/>
          </a:prstGeom>
          <a:solidFill>
            <a:srgbClr val="1F4E79"/>
          </a:solidFill>
          <a:ln w="508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80576" y="1444752"/>
            <a:ext cx="125272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 i="0">
                <a:solidFill>
                  <a:srgbClr val="FFFFFF"/>
                </a:solidFill>
              </a:rPr>
              <a:t>Gene-mean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515600" y="1417320"/>
            <a:ext cx="1435608" cy="265176"/>
          </a:xfrm>
          <a:prstGeom prst="rect">
            <a:avLst/>
          </a:prstGeom>
          <a:solidFill>
            <a:srgbClr val="1F4E79"/>
          </a:solidFill>
          <a:ln w="508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52176" y="1444752"/>
            <a:ext cx="136245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 i="0">
                <a:solidFill>
                  <a:srgbClr val="FFFFFF"/>
                </a:solidFill>
              </a:rPr>
              <a:t>BLAST→GOA†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15000" y="1691640"/>
            <a:ext cx="1737360" cy="265176"/>
          </a:xfrm>
          <a:prstGeom prst="rect">
            <a:avLst/>
          </a:prstGeom>
          <a:solidFill>
            <a:srgbClr val="FFFFFF"/>
          </a:solidFill>
          <a:ln w="508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51576" y="1719072"/>
            <a:ext cx="1664207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01010"/>
                </a:solidFill>
              </a:rPr>
              <a:t>All MF AUPRC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79" y="1691640"/>
            <a:ext cx="1600200" cy="265176"/>
          </a:xfrm>
          <a:prstGeom prst="rect">
            <a:avLst/>
          </a:prstGeom>
          <a:solidFill>
            <a:srgbClr val="FFFFFF"/>
          </a:solidFill>
          <a:ln w="508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34655" y="1719072"/>
            <a:ext cx="152704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 i="0">
                <a:solidFill>
                  <a:srgbClr val="378644"/>
                </a:solidFill>
              </a:rPr>
              <a:t>0.734  [0.723–0.747]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0" y="1691640"/>
            <a:ext cx="1325880" cy="265176"/>
          </a:xfrm>
          <a:prstGeom prst="rect">
            <a:avLst/>
          </a:prstGeom>
          <a:solidFill>
            <a:srgbClr val="FFFFFF"/>
          </a:solidFill>
          <a:ln w="508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80576" y="1719072"/>
            <a:ext cx="125272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01010"/>
                </a:solidFill>
              </a:rPr>
              <a:t>0.465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515600" y="1691640"/>
            <a:ext cx="1435608" cy="265176"/>
          </a:xfrm>
          <a:prstGeom prst="rect">
            <a:avLst/>
          </a:prstGeom>
          <a:solidFill>
            <a:srgbClr val="FFFFFF"/>
          </a:solidFill>
          <a:ln w="508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52176" y="1719072"/>
            <a:ext cx="136245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A0A0A0"/>
                </a:solidFill>
              </a:rPr>
              <a:t>0.861†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15000" y="1965960"/>
            <a:ext cx="1737360" cy="265176"/>
          </a:xfrm>
          <a:prstGeom prst="rect">
            <a:avLst/>
          </a:prstGeom>
          <a:solidFill>
            <a:srgbClr val="E8F5E9"/>
          </a:solidFill>
          <a:ln w="508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51576" y="1993391"/>
            <a:ext cx="1664207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01010"/>
                </a:solidFill>
              </a:rPr>
              <a:t>L2 Struct AUPRC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98079" y="1965960"/>
            <a:ext cx="1600200" cy="265176"/>
          </a:xfrm>
          <a:prstGeom prst="rect">
            <a:avLst/>
          </a:prstGeom>
          <a:solidFill>
            <a:srgbClr val="E8F5E9"/>
          </a:solidFill>
          <a:ln w="508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34655" y="1993391"/>
            <a:ext cx="152704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 i="0">
                <a:solidFill>
                  <a:srgbClr val="378644"/>
                </a:solidFill>
              </a:rPr>
              <a:t>0.637  [0.617–0.654]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0" y="1965960"/>
            <a:ext cx="1325880" cy="265176"/>
          </a:xfrm>
          <a:prstGeom prst="rect">
            <a:avLst/>
          </a:prstGeom>
          <a:solidFill>
            <a:srgbClr val="E8F5E9"/>
          </a:solidFill>
          <a:ln w="508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80576" y="1993391"/>
            <a:ext cx="125272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01010"/>
                </a:solidFill>
              </a:rPr>
              <a:t>0.500 (필연)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515600" y="1965960"/>
            <a:ext cx="1435608" cy="265176"/>
          </a:xfrm>
          <a:prstGeom prst="rect">
            <a:avLst/>
          </a:prstGeom>
          <a:solidFill>
            <a:srgbClr val="E8F5E9"/>
          </a:solidFill>
          <a:ln w="508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552176" y="1993391"/>
            <a:ext cx="136245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A0A0A0"/>
                </a:solidFill>
              </a:rPr>
              <a:t>0.802†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715000" y="2240280"/>
            <a:ext cx="1737360" cy="265176"/>
          </a:xfrm>
          <a:prstGeom prst="rect">
            <a:avLst/>
          </a:prstGeom>
          <a:solidFill>
            <a:srgbClr val="FFFFFF"/>
          </a:solidFill>
          <a:ln w="508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751576" y="2267712"/>
            <a:ext cx="1664207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01010"/>
                </a:solidFill>
              </a:rPr>
              <a:t>Domain-Rank AUC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498079" y="2240280"/>
            <a:ext cx="1600200" cy="265176"/>
          </a:xfrm>
          <a:prstGeom prst="rect">
            <a:avLst/>
          </a:prstGeom>
          <a:solidFill>
            <a:srgbClr val="FFFFFF"/>
          </a:solidFill>
          <a:ln w="508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534655" y="2267712"/>
            <a:ext cx="152704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 i="0">
                <a:solidFill>
                  <a:srgbClr val="378644"/>
                </a:solidFill>
              </a:rPr>
              <a:t>0.630  [0.613–0.646]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44000" y="2240280"/>
            <a:ext cx="1325880" cy="265176"/>
          </a:xfrm>
          <a:prstGeom prst="rect">
            <a:avLst/>
          </a:prstGeom>
          <a:solidFill>
            <a:srgbClr val="FFFFFF"/>
          </a:solidFill>
          <a:ln w="508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80576" y="2267712"/>
            <a:ext cx="125272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01010"/>
                </a:solidFill>
              </a:rPr>
              <a:t>0.500 (필연)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515600" y="2240280"/>
            <a:ext cx="1435608" cy="265176"/>
          </a:xfrm>
          <a:prstGeom prst="rect">
            <a:avLst/>
          </a:prstGeom>
          <a:solidFill>
            <a:srgbClr val="FFFFFF"/>
          </a:solidFill>
          <a:ln w="508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552176" y="2267712"/>
            <a:ext cx="136245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A0A0A0"/>
                </a:solidFill>
              </a:rPr>
              <a:t>0.785†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715000" y="2578608"/>
            <a:ext cx="6263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A0A0A0"/>
                </a:solidFill>
              </a:rPr>
              <a:t>†BLAST: 유전자-수준 전파 (아이소폼 구별 불가). L2 Struct에서 PRISM이 진정한 아이소폼-고유 예측 입증.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715000" y="2907792"/>
            <a:ext cx="6263640" cy="2468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788152" y="2935224"/>
            <a:ext cx="6172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UniProt Curated Isoform 독립 검증 (9/9 = 100%, p=0.002)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715000" y="3182112"/>
            <a:ext cx="6263640" cy="1115568"/>
          </a:xfrm>
          <a:prstGeom prst="rect">
            <a:avLst/>
          </a:prstGeom>
          <a:solidFill>
            <a:srgbClr val="FFF2CC"/>
          </a:solidFill>
          <a:ln w="15240">
            <a:solidFill>
              <a:srgbClr val="B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833872" y="3218688"/>
            <a:ext cx="6053328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1010"/>
                </a:solidFill>
              </a:rPr>
              <a:t>설계:  UniProt 수동 큐레이션 45쌍  →  기능 보유 A vs 기능 소실 B
전체:  26/42 = 61.9%  (p=0.082)
High-gap ( ≥ 0.10 ):  9/9 = 100%  ★  p = 0.002  (one-sided binomial)
예: FGFR2 gap=0.984  (kinase 전무 iso),  BRCA1 gap=0.416  (63aa 단편)
길이 편향:  ρ(len_diff, correct) = +0.019  →  p=0.91  (기각됨)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715000" y="4407408"/>
            <a:ext cx="6263640" cy="2468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788152" y="4434840"/>
            <a:ext cx="6172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BISECT 고신뢰 발견 (Tier A)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715000" y="4663440"/>
            <a:ext cx="914400" cy="475488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742432" y="4754879"/>
            <a:ext cx="859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ZNF736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638544" y="4663440"/>
            <a:ext cx="2103120" cy="475488"/>
          </a:xfrm>
          <a:prstGeom prst="rect">
            <a:avLst/>
          </a:prstGeom>
          <a:solidFill>
            <a:srgbClr val="F0F4FF"/>
          </a:solidFill>
          <a:ln w="508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684264" y="4718303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 i="0">
                <a:solidFill>
                  <a:srgbClr val="C00000"/>
                </a:solidFill>
              </a:rPr>
              <a:t>stageR p=2.67×10⁻²⁴  (최강 신호)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750808" y="4663440"/>
            <a:ext cx="3227832" cy="475488"/>
          </a:xfrm>
          <a:prstGeom prst="rect">
            <a:avLst/>
          </a:prstGeom>
          <a:solidFill>
            <a:srgbClr val="F0F4FF"/>
          </a:solidFill>
          <a:ln w="508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796528" y="4718303"/>
            <a:ext cx="3136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01010"/>
                </a:solidFill>
              </a:rPr>
              <a:t>KRAB+C2H2 도메인 완전 소실 (79.6%↓)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715000" y="5166359"/>
            <a:ext cx="914400" cy="475488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742432" y="5257799"/>
            <a:ext cx="859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DOCK11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638544" y="5166359"/>
            <a:ext cx="210312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684264" y="5221223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 i="0">
                <a:solidFill>
                  <a:srgbClr val="C00000"/>
                </a:solidFill>
              </a:rPr>
              <a:t>perm p=0.0008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750808" y="5166359"/>
            <a:ext cx="3227832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796528" y="5221223"/>
            <a:ext cx="3136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01010"/>
                </a:solidFill>
              </a:rPr>
              <a:t>DHR2 GEF domain 소실: CDC42 활성화 불가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715000" y="5669279"/>
            <a:ext cx="914400" cy="475488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742432" y="5760719"/>
            <a:ext cx="859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NDUFS8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638544" y="5669279"/>
            <a:ext cx="2103120" cy="475488"/>
          </a:xfrm>
          <a:prstGeom prst="rect">
            <a:avLst/>
          </a:prstGeom>
          <a:solidFill>
            <a:srgbClr val="FFEEFF"/>
          </a:solidFill>
          <a:ln w="508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684264" y="5724143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 i="0">
                <a:solidFill>
                  <a:srgbClr val="C00000"/>
                </a:solidFill>
              </a:rPr>
              <a:t>perm p=0.004 / 37%↓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750808" y="5669279"/>
            <a:ext cx="3227832" cy="475488"/>
          </a:xfrm>
          <a:prstGeom prst="rect">
            <a:avLst/>
          </a:prstGeom>
          <a:solidFill>
            <a:srgbClr val="FFEEFF"/>
          </a:solidFill>
          <a:ln w="508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796528" y="5724143"/>
            <a:ext cx="3136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01010"/>
                </a:solidFill>
              </a:rPr>
              <a:t>LOC switch: MTS 파괴 → 미토콘드리아 import 실패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715000" y="6172200"/>
            <a:ext cx="914400" cy="475488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742432" y="6263640"/>
            <a:ext cx="859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Complex I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638544" y="6172200"/>
            <a:ext cx="210312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684264" y="622706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 i="0">
                <a:solidFill>
                  <a:srgbClr val="C00000"/>
                </a:solidFill>
              </a:rPr>
              <a:t>NDUFS4/7/8 + NDUFAF5 수렴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750808" y="6172200"/>
            <a:ext cx="3227832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796528" y="6227064"/>
            <a:ext cx="3136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01010"/>
                </a:solidFill>
              </a:rPr>
              <a:t>3 subunit × 2 module × 2 cell type 동시 수렴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74320" y="6638544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0A0A0"/>
                </a:solidFill>
              </a:rPr>
              <a:t>PRISM · v17f* · 2026-07-02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750040" y="6638544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0A0A0"/>
                </a:solidFill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