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SLIDE 1 — 전체 모델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Long-read scRNA-seq × Deep Learning Isoform Function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1752" y="0"/>
            <a:ext cx="4572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475488"/>
          </a:xfrm>
          <a:prstGeom prst="rect">
            <a:avLst/>
          </a:prstGeom>
          <a:solidFill>
            <a:srgbClr val="FFF2CC"/>
          </a:solidFill>
          <a:ln w="12700">
            <a:solidFill>
              <a:srgbClr val="B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4183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F6000"/>
                </a:solidFill>
              </a:rPr>
              <a:t>핵심 질문: 알츠하이머(AD) 단일세포 데이터에서, 어떤 단백질 아이소폼이 기능적으로 중요한 변화를 보이는가?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00200"/>
            <a:ext cx="2103120" cy="1280160"/>
          </a:xfrm>
          <a:prstGeom prst="rect">
            <a:avLst/>
          </a:prstGeom>
          <a:solidFill>
            <a:srgbClr val="E2F0D9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36776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AD47"/>
                </a:solidFill>
              </a:rPr>
              <a:t>①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56232"/>
            <a:ext cx="2011679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Long-read
scRNA-seq
(IsoQuant)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600200"/>
            <a:ext cx="2560320" cy="1280160"/>
          </a:xfrm>
          <a:prstGeom prst="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36776"/>
            <a:ext cx="246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</a:rPr>
              <a:t>②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56232"/>
            <a:ext cx="2468879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21 donors (AD13/CT8)
36,748 isoforms
672 cell types
10,817 novel junctions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600200"/>
            <a:ext cx="2651760" cy="1280160"/>
          </a:xfrm>
          <a:prstGeom prst="rect">
            <a:avLst/>
          </a:prstGeom>
          <a:solidFill>
            <a:srgbClr val="FFE6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636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</a:rPr>
              <a:t>③ PRISM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856232"/>
            <a:ext cx="2560320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ESM-2 δ_layer
→ MLP(256→128→64)
→ 82 GO terms
(분자기능)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2606040" cy="1280160"/>
          </a:xfrm>
          <a:prstGeom prst="rect">
            <a:avLst/>
          </a:prstGeom>
          <a:solidFill>
            <a:srgbClr val="E2E2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36776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030A0"/>
                </a:solidFill>
              </a:rPr>
              <a:t>④ BISECT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56232"/>
            <a:ext cx="2514600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DRIMSeq+stageR
→ 15-module 검증
→ Tier 분류
(도메인·NMD·LOC)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09960" y="1600200"/>
            <a:ext cx="822960" cy="1280160"/>
          </a:xfrm>
          <a:prstGeom prst="rect">
            <a:avLst/>
          </a:prstGeom>
          <a:solidFill>
            <a:srgbClr val="FFE6E6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0" y="16367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</a:rPr>
              <a:t>⑤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1856232"/>
            <a:ext cx="731520" cy="987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Complex I
DOCK GEF
ZNF736
아이소폼 스위치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40863" y="2212848"/>
            <a:ext cx="137160" cy="54864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5400000">
            <a:off x="2478024" y="2157984"/>
            <a:ext cx="128016" cy="164592"/>
          </a:xfrm>
          <a:prstGeom prst="round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75504" y="2212848"/>
            <a:ext cx="137159" cy="54864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5400000">
            <a:off x="5312664" y="2157984"/>
            <a:ext cx="128016" cy="164592"/>
          </a:xfrm>
          <a:prstGeom prst="round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2212848"/>
            <a:ext cx="91440" cy="54864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5400000">
            <a:off x="8193023" y="2157984"/>
            <a:ext cx="128016" cy="164592"/>
          </a:xfrm>
          <a:prstGeom prst="round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36224" y="2212848"/>
            <a:ext cx="45720" cy="54864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5400000">
            <a:off x="10981944" y="2157984"/>
            <a:ext cx="128016" cy="164592"/>
          </a:xfrm>
          <a:prstGeom prst="round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063240"/>
            <a:ext cx="41148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309067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기존 방법(DIFFUSE) vs PRISM 핵심 차별점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337560"/>
            <a:ext cx="2286000" cy="347472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36499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한계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23744" y="3337560"/>
            <a:ext cx="4389120" cy="347472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9463" y="3364991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DIFFUSE (Yao et al., NatMeth 2022)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22008" y="3337560"/>
            <a:ext cx="5303520" cy="347472"/>
          </a:xfrm>
          <a:prstGeom prst="rect">
            <a:avLst/>
          </a:prstGeom>
          <a:solidFill>
            <a:srgbClr val="1F4E79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3364991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PRISM (본 연구)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703320"/>
            <a:ext cx="22860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7307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유전자-수준 편향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23744" y="3703320"/>
            <a:ext cx="4389120" cy="347472"/>
          </a:xfrm>
          <a:prstGeom prst="rect">
            <a:avLst/>
          </a:prstGeom>
          <a:solidFill>
            <a:srgbClr val="FF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9463" y="373075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0000"/>
                </a:solidFill>
              </a:rPr>
              <a:t>동일 유전자 아이소폼 → 유사 기능 점수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22008" y="3703320"/>
            <a:ext cx="530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7728" y="37307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ESM-2 δ_layer → 아이소폼 고유 변화만 포착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069080"/>
            <a:ext cx="22860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0965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데이터 희소성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3744" y="4069080"/>
            <a:ext cx="4389120" cy="347472"/>
          </a:xfrm>
          <a:prstGeom prst="rect">
            <a:avLst/>
          </a:prstGeom>
          <a:solidFill>
            <a:srgbClr val="FF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9463" y="409651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0000"/>
                </a:solidFill>
              </a:rPr>
              <a:t>다수결 GO 라벨 → 레어 기능 학습 불가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22008" y="4069080"/>
            <a:ext cx="530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40965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Focal Loss (γ=2) → 희귀 positive 집중 학습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434840"/>
            <a:ext cx="22860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44622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제로샷 전이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23744" y="4434840"/>
            <a:ext cx="4389120" cy="347472"/>
          </a:xfrm>
          <a:prstGeom prst="rect">
            <a:avLst/>
          </a:prstGeom>
          <a:solidFill>
            <a:srgbClr val="FF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9463" y="446227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0000"/>
                </a:solidFill>
              </a:rPr>
              <a:t>근육 훈련 → 뇌에서 급격한 성능 저하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22008" y="4434840"/>
            <a:ext cx="530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8" y="44622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사전학습 ESM-2 신호 → 0.596 제로샷 전이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800600"/>
            <a:ext cx="2286000" cy="347472"/>
          </a:xfrm>
          <a:prstGeom prst="rect">
            <a:avLst/>
          </a:prstGeom>
          <a:solidFill>
            <a:srgbClr val="D6E4F0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8280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</a:rPr>
              <a:t>해석 가능성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23744" y="4800600"/>
            <a:ext cx="4389120" cy="347472"/>
          </a:xfrm>
          <a:prstGeom prst="rect">
            <a:avLst/>
          </a:prstGeom>
          <a:solidFill>
            <a:srgbClr val="FFF2F2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9463" y="4828032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0000"/>
                </a:solidFill>
              </a:rPr>
              <a:t>블랙박스 기능 점수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22008" y="4800600"/>
            <a:ext cx="5303520" cy="347472"/>
          </a:xfrm>
          <a:prstGeom prst="rect">
            <a:avLst/>
          </a:prstGeom>
          <a:solidFill>
            <a:srgbClr val="E8F4EC"/>
          </a:solidFill>
          <a:ln w="63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48280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BISECT 15-모듈 독립 수렴으로 검증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PRISM+BISECT | 2026-07-02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795760" y="6629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SLIDE 2 — 모델 핵심 원리 및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v17f* Architecture · Ablation · PLM Generalization · Within-gene Discrimination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1752" y="0"/>
            <a:ext cx="4572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530352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89611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핵심 원리: δ_layer (Layer-Differential Embedding)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5303520" cy="1005840"/>
          </a:xfrm>
          <a:prstGeom prst="rect">
            <a:avLst/>
          </a:prstGeom>
          <a:solidFill>
            <a:srgbClr val="FFF0E0"/>
          </a:solidFill>
          <a:ln w="1524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F3600"/>
                </a:solidFill>
              </a:rPr>
              <a:t>δ  =  MaxAbsScaler( ESM-2_L30  −  ESM-2_L15 )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727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2000"/>
                </a:solidFill>
              </a:rPr>
              <a:t>L30 (고수준: 도메인·기능 표현)  −  L15 (중수준: 2차 구조)
→ 기능 층에서 구조 층을 뺀 '아이소폼 고유 기능 변화'만 추출
→ 동일 유전자 내 절대 임베딩 유사성 → 유전자 편향 (해결!)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267712"/>
            <a:ext cx="32004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22951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v17f* MLP 구조 (최종 확정)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560320"/>
            <a:ext cx="1051560" cy="475488"/>
          </a:xfrm>
          <a:prstGeom prst="rect">
            <a:avLst/>
          </a:prstGeom>
          <a:solidFill>
            <a:srgbClr val="E2F0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" y="2587751"/>
            <a:ext cx="9784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F4E79"/>
                </a:solidFill>
              </a:rPr>
              <a:t>Input
640-dim δ_layer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60320"/>
            <a:ext cx="1051560" cy="475488"/>
          </a:xfrm>
          <a:prstGeom prst="rect">
            <a:avLst/>
          </a:prstGeom>
          <a:solidFill>
            <a:srgbClr val="DD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6464" y="2587751"/>
            <a:ext cx="9784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F4E79"/>
                </a:solidFill>
              </a:rPr>
              <a:t>Dense 256
ReLU + BN
+ Dropout(0.3)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1176" y="2560320"/>
            <a:ext cx="1051560" cy="475488"/>
          </a:xfrm>
          <a:prstGeom prst="rect">
            <a:avLst/>
          </a:prstGeom>
          <a:solidFill>
            <a:srgbClr val="DD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7752" y="2587751"/>
            <a:ext cx="9784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F4E79"/>
                </a:solidFill>
              </a:rPr>
              <a:t>Dense 128
ReLU
+ Dropout(0.2)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3" y="2560320"/>
            <a:ext cx="804672" cy="475488"/>
          </a:xfrm>
          <a:prstGeom prst="rect">
            <a:avLst/>
          </a:prstGeom>
          <a:solidFill>
            <a:srgbClr val="DD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587751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F4E79"/>
                </a:solidFill>
              </a:rPr>
              <a:t>Dense 64
ReLU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6864" y="2560320"/>
            <a:ext cx="868680" cy="475488"/>
          </a:xfrm>
          <a:prstGeom prst="rect">
            <a:avLst/>
          </a:prstGeom>
          <a:solidFill>
            <a:srgbClr val="FFE6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587751"/>
            <a:ext cx="7955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F4E79"/>
                </a:solidFill>
              </a:rPr>
              <a:t>Output
82 GO terms
Sigmoid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2779775"/>
            <a:ext cx="18288" cy="3657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5400000">
            <a:off x="1307592" y="2734056"/>
            <a:ext cx="82296" cy="128016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591" y="2779775"/>
            <a:ext cx="18288" cy="3657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5400000">
            <a:off x="2468880" y="2734056"/>
            <a:ext cx="82296" cy="128016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11879" y="2779775"/>
            <a:ext cx="18287" cy="3657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 rot="5400000">
            <a:off x="3630168" y="2734056"/>
            <a:ext cx="82296" cy="128016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79" y="2779775"/>
            <a:ext cx="18288" cy="3657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5400000">
            <a:off x="4544568" y="2734056"/>
            <a:ext cx="82296" cy="128016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154680"/>
            <a:ext cx="36576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31821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PLM 일반화: δ_layer 원리는 모델-독립적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56432"/>
            <a:ext cx="3474720" cy="1874519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0" y="868680"/>
            <a:ext cx="41148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89611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Ablation — 무엇이 성능을 만드는가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70432"/>
            <a:ext cx="5989320" cy="26974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943600" y="3977639"/>
            <a:ext cx="41148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98464" y="400507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Within-Gene 아이소폼 구별 능력 (pos_bias)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279392"/>
            <a:ext cx="60350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2976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5C2A"/>
                </a:solidFill>
              </a:rPr>
              <a:t>pos_bias = 유전자 내 아이소폼 점수 분산 / 셔플 귀무 분산
( &gt; 1 → 아이소폼 간 기능적으로 의미 있는 순위 부여 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5102352"/>
            <a:ext cx="1325880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5111496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GO 도메인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5102352"/>
            <a:ext cx="868680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5111496"/>
            <a:ext cx="8138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Terms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5102352"/>
            <a:ext cx="2468880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5111496"/>
            <a:ext cx="2414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유의 (BH&lt;0.05)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89920" y="5102352"/>
            <a:ext cx="1097280" cy="2011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17352" y="5111496"/>
            <a:ext cx="10424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평균 pos_bias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5321808"/>
            <a:ext cx="13258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16752" y="5349240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MF (분자 기능)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60920" y="5321808"/>
            <a:ext cx="8686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88352" y="5349240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82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5321808"/>
            <a:ext cx="24688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5349240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81 / 81  (100%)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89920" y="5321808"/>
            <a:ext cx="10972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17352" y="534924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0.665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5577840"/>
            <a:ext cx="132588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16752" y="5605272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BP (생물학 과정)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5577840"/>
            <a:ext cx="86868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2" y="5605272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103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20" y="5577840"/>
            <a:ext cx="246888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02752" y="5605272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103 / 103  (100%)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789920" y="5577840"/>
            <a:ext cx="109728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17352" y="5605272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0.713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5833872"/>
            <a:ext cx="13258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16752" y="5861304"/>
            <a:ext cx="1271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CC (세포 구성요소)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60920" y="5833872"/>
            <a:ext cx="8686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88352" y="5861304"/>
            <a:ext cx="813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02020"/>
                </a:solidFill>
              </a:rPr>
              <a:t>93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5833872"/>
            <a:ext cx="24688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02752" y="5861304"/>
            <a:ext cx="2414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93 / 93  (100%)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89920" y="5833872"/>
            <a:ext cx="1097280" cy="237744"/>
          </a:xfrm>
          <a:prstGeom prst="rect">
            <a:avLst/>
          </a:prstGeom>
          <a:solidFill>
            <a:srgbClr val="E8F5E9"/>
          </a:solidFill>
          <a:ln w="508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17352" y="5861304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0.517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6108192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5C2A"/>
                </a:solidFill>
              </a:rPr>
              <a:t>278개 GO term 전체 유의 — 기존 v15d (11/13) 대비 대폭 강화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PRISM+BISECT | 2026-07-02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95760" y="6629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SLIDE 3 — 벤치마킹 및 핵심 성능 지표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8-Method SOTA Comparison · Domain-Ranking AUC · Metric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1752" y="0"/>
            <a:ext cx="4572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36576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8961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지표 정의 (처음 보는 분을 위해)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333756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1207008"/>
            <a:ext cx="3227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</a:rPr>
              <a:t>Macro AUPRC
(All MF)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" y="1481328"/>
            <a:ext cx="3227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02020"/>
                </a:solidFill>
              </a:rPr>
              <a:t>82개 GO term 각각의 Precision-Recall 곡선 아래 면적을 평균
• Precision = '기능 있다' 예측 중 실제 맞은 비율
• Recall = 실제 기능 가진 것 중 발견한 비율
▶ 왜 AUROC 아닌 AUPRC? GO 라벨 극희소(pos&lt;5%) → AUROC 과낙관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170432"/>
            <a:ext cx="333756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207008"/>
            <a:ext cx="32278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</a:rPr>
              <a:t>L2_Struct
AUPRC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481328"/>
            <a:ext cx="3227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02020"/>
                </a:solidFill>
              </a:rPr>
              <a:t>Gene-mean baseline이 수학적으로 0.500이 보장되는 GO term만 평가
→ 점수가 높을수록 '유전자 암기 없이 아이소폼 고유 신호 학습'
▶ PRISM L2=0.637 vs Gene-mean L2=0.500(수학적 필연)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170432"/>
            <a:ext cx="301752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4" y="1207008"/>
            <a:ext cx="2907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</a:rPr>
              <a:t>Bootstrap CI
(95%)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481328"/>
            <a:ext cx="2907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02020"/>
                </a:solidFill>
              </a:rPr>
              <a:t>n=500~1000 재샘플링으로 추정한 신뢰구간
→ 수치 주장의 통계적 유의성 담보
▶ 수치마다 [low, high] 표기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1170432"/>
            <a:ext cx="1874519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3264" y="1207008"/>
            <a:ext cx="1764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</a:rPr>
              <a:t>Domain-Ranking
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13264" y="1481328"/>
            <a:ext cx="1764791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202020"/>
                </a:solidFill>
              </a:rPr>
              <a:t>UniProt '도메인 보유 A &gt; 도메인 소실 B' 쌍에서
PRISM이 올바른 순서로 예측하는 비율
▶ Gene-mean=0.500(필연), PRISM=0.630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40280"/>
            <a:ext cx="45720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226771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전체 SOTA 비교 (Brain MF, 36,748 isoforms)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42032"/>
            <a:ext cx="7315200" cy="3246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726679" y="2240280"/>
            <a:ext cx="420624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1544" y="226771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핵심 해석 포인트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2560320"/>
            <a:ext cx="4251960" cy="749808"/>
          </a:xfrm>
          <a:prstGeom prst="rect">
            <a:avLst/>
          </a:prstGeom>
          <a:solidFill>
            <a:srgbClr val="FFF0E0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2587751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D7D31"/>
                </a:solidFill>
              </a:rPr>
              <a:t>왜 파인튜닝(D0/D1)보다 PRISM이 높은가?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163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D0/D1=0.660 vs PRISM=0.734: +11%↑
ESM-2 파인튜닝 시 사전학습 신호 손실
→ δ_layer가 파인튜닝 없이도 우수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364991"/>
            <a:ext cx="4251960" cy="749808"/>
          </a:xfrm>
          <a:prstGeom prst="rect">
            <a:avLst/>
          </a:prstGeom>
          <a:solidFill>
            <a:srgbClr val="FFF2F2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392423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</a:rPr>
              <a:t>Gene-mean vs k-NN 차이는?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62102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k-NN=0.636: 유사 서열 → 도메인 상동성 활용
Gene-mean=0.465: 같은 유전자 단순 평균
→ 아이소폼 구별 없음 (가장 낮은 이유)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169663"/>
            <a:ext cx="425196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970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78644"/>
                </a:solidFill>
              </a:rPr>
              <a:t>L2_Struct에서 PRISM이 더 두드러지는 이유?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25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이 조건에서 Gene-mean=0.500 (수학 필연)
PRISM L2=0.637: gene 암기 없이
아이소폼 자체 기능 예측 성공 증명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4974336"/>
            <a:ext cx="4251960" cy="749808"/>
          </a:xfrm>
          <a:prstGeom prst="rect">
            <a:avLst/>
          </a:prstGeom>
          <a:solidFill>
            <a:srgbClr val="F0F0F0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500176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6060"/>
                </a:solidFill>
              </a:rPr>
              <a:t>†OOD 표기란?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52303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DeepFRI/DeepGoPlus: canonical PDB 훈련
→ 아이소폼 데이터 평가 시 불리 (공정 비교 아님)
→ 논문에 명시적 OOD 표기 추가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PRISM+BISECT | 2026-07-02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95760" y="6629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SLIDE 4 — UniProt 벤치마크 + PRISM/BISECT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</a:rPr>
              <a:t>독립 검증 (9/9=100%, p=0.002) · Complex I 수렴 · DOCK GEF · ZNF736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1752" y="0"/>
            <a:ext cx="45720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512064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" y="8961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A. UniProt Curated Isoform 벤치마크 — 독립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70432"/>
            <a:ext cx="1417320" cy="749808"/>
          </a:xfrm>
          <a:prstGeom prst="rect">
            <a:avLst/>
          </a:prstGeom>
          <a:solidFill>
            <a:srgbClr val="DD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1188720"/>
            <a:ext cx="13075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E79"/>
                </a:solidFill>
              </a:rPr>
              <a:t>45쌍 수집
42쌍 평가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1170432"/>
            <a:ext cx="1417320" cy="749808"/>
          </a:xfrm>
          <a:prstGeom prst="rect">
            <a:avLst/>
          </a:prstGeom>
          <a:solidFill>
            <a:srgbClr val="E2F0D9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1188720"/>
            <a:ext cx="13075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E79"/>
                </a:solidFill>
              </a:rPr>
              <a:t>전체: 26/42
= 61.9% (p=0.082)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1256" y="1170432"/>
            <a:ext cx="1417320" cy="749808"/>
          </a:xfrm>
          <a:prstGeom prst="rect">
            <a:avLst/>
          </a:prstGeom>
          <a:solidFill>
            <a:srgbClr val="FFE6C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13075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F3600"/>
                </a:solidFill>
              </a:rPr>
              <a:t>High-gap ≥0.10
9/9 = 100%
p=0.002 ★★★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584" y="1170432"/>
            <a:ext cx="1417320" cy="749808"/>
          </a:xfrm>
          <a:prstGeom prst="rect">
            <a:avLst/>
          </a:prstGeom>
          <a:solidFill>
            <a:srgbClr val="F0F0F0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188720"/>
            <a:ext cx="13075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E79"/>
                </a:solidFill>
              </a:rPr>
              <a:t>Length bias
ρ=+0.019, p=0.91
→ 길이 편향 기각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56816"/>
            <a:ext cx="786384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9659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유전자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1956816"/>
            <a:ext cx="59436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1965960"/>
            <a:ext cx="539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PRISM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1956816"/>
            <a:ext cx="434340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1965960"/>
            <a:ext cx="4288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메커니즘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167128"/>
            <a:ext cx="786384" cy="237744"/>
          </a:xfrm>
          <a:prstGeom prst="rect">
            <a:avLst/>
          </a:prstGeom>
          <a:solidFill>
            <a:srgbClr val="FFEEDD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194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FGFR2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2167128"/>
            <a:ext cx="594360" cy="237744"/>
          </a:xfrm>
          <a:prstGeom prst="rect">
            <a:avLst/>
          </a:prstGeom>
          <a:solidFill>
            <a:srgbClr val="FFEEDD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2194560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3600"/>
                </a:solidFill>
              </a:rPr>
              <a:t>0.984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2167128"/>
            <a:ext cx="4343400" cy="237744"/>
          </a:xfrm>
          <a:prstGeom prst="rect">
            <a:avLst/>
          </a:prstGeom>
          <a:solidFill>
            <a:srgbClr val="FFEEDD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2194560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세포외 도메인만, kinase 전무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423160"/>
            <a:ext cx="786384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2450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PARK2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2423160"/>
            <a:ext cx="594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450592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0.645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2423160"/>
            <a:ext cx="434340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19072" y="2450592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UBL domain 소실 (파킨슨 E3 ligase)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2679192"/>
            <a:ext cx="786384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706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VEGFR2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" y="2679192"/>
            <a:ext cx="59436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2706624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0.513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91640" y="2679192"/>
            <a:ext cx="434340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9072" y="2706624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sVEGFR2: kinase domain 전무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935224"/>
            <a:ext cx="786384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2962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BRCA1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2935224"/>
            <a:ext cx="594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2962656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0.416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91640" y="2935224"/>
            <a:ext cx="434340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9072" y="2962656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iso-2 (63aa): 전체 도메인 소실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91256"/>
            <a:ext cx="786384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3218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FLT1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" y="3191256"/>
            <a:ext cx="59436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992" y="3218688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0.228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91640" y="3191256"/>
            <a:ext cx="434340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19072" y="3218688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sFLT1: TM+kinase 전무 (분비형)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447288"/>
            <a:ext cx="786384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" y="34747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NTRK2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" y="3447288"/>
            <a:ext cx="594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8992" y="3474720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0.192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3447288"/>
            <a:ext cx="434340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19072" y="3474720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TrkB-T1: intracellular kinase 전무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703320"/>
            <a:ext cx="786384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37307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CDKN2A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" y="3703320"/>
            <a:ext cx="59436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8992" y="3730752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0.189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91640" y="3703320"/>
            <a:ext cx="434340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19072" y="3730752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p16 vs p14ARF: 서열 완전 상이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3959352"/>
            <a:ext cx="786384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6032" y="39867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NTRK3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51560" y="3959352"/>
            <a:ext cx="59436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8992" y="3986784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0.139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91640" y="3959352"/>
            <a:ext cx="4343400" cy="237744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19072" y="3986784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TrkC-T1: C-terminal 227aa 소실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215384"/>
            <a:ext cx="786384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" y="4242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</a:rPr>
              <a:t>BCL2L1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1560" y="4215384"/>
            <a:ext cx="59436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8992" y="4242816"/>
            <a:ext cx="539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0.117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91640" y="4215384"/>
            <a:ext cx="4343400" cy="237744"/>
          </a:xfrm>
          <a:prstGeom prst="rect">
            <a:avLst/>
          </a:prstGeom>
          <a:solidFill>
            <a:srgbClr val="F5F5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19072" y="4242816"/>
            <a:ext cx="4288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BCL-xS vs BCL-xL: BH1+BH4 소실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" y="4480560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78644"/>
                </a:solidFill>
              </a:rPr>
              <a:t>전수 예측 성공 (9/9)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868680"/>
            <a:ext cx="57150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72783" y="896112"/>
            <a:ext cx="562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B. BISECT 핵심 발견 — AD 알츠하이머 아이소폼 스위치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1170432"/>
            <a:ext cx="5715000" cy="2240280"/>
          </a:xfrm>
          <a:prstGeom prst="rect">
            <a:avLst/>
          </a:prstGeom>
          <a:solidFill>
            <a:srgbClr val="F5F0FF"/>
          </a:solidFill>
          <a:ln w="1524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1188720"/>
            <a:ext cx="5532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030A0"/>
                </a:solidFill>
              </a:rPr>
              <a:t>Complex I (미토콘드리아 전자전달계) — 4개 독립 Subunit 수렴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1444752"/>
            <a:ext cx="676656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36207" y="1453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유전자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31152" y="1444752"/>
            <a:ext cx="685800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49440" y="1453896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Subunit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53527" y="1444752"/>
            <a:ext cx="685800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71815" y="1453896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세포 유형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75904" y="1444752"/>
            <a:ext cx="685800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94192" y="1453896"/>
            <a:ext cx="6492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효과 크기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98280" y="1444752"/>
            <a:ext cx="841248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16567" y="1453896"/>
            <a:ext cx="8046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p-value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976104" y="1444752"/>
            <a:ext cx="1874519" cy="1828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994392" y="1453896"/>
            <a:ext cx="18379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메커니즘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0" y="1645920"/>
            <a:ext cx="676656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36207" y="1673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202020"/>
                </a:solidFill>
              </a:rPr>
              <a:t>NDUFS8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31152" y="1645920"/>
            <a:ext cx="685800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49440" y="1673352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Q-module TYKY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653527" y="1645920"/>
            <a:ext cx="685800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71815" y="1673352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Inhibitory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375904" y="1645920"/>
            <a:ext cx="685800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394192" y="1673352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7F007F"/>
                </a:solidFill>
              </a:rPr>
              <a:t>37%↓ ★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98280" y="1645920"/>
            <a:ext cx="841248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16567" y="1673352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perm p=0.004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976104" y="1645920"/>
            <a:ext cx="1874519" cy="402336"/>
          </a:xfrm>
          <a:prstGeom prst="rect">
            <a:avLst/>
          </a:prstGeom>
          <a:solidFill>
            <a:srgbClr val="FFEE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994392" y="1673352"/>
            <a:ext cx="18379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LOC switch: MTS→프롤린 파괴
→ 미토콘드리아 import 실패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17920" y="2066544"/>
            <a:ext cx="67665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6207" y="209397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202020"/>
                </a:solidFill>
              </a:rPr>
              <a:t>NDUFS4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931152" y="2066544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9440" y="2093976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N-module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53527" y="2066544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671815" y="2093976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Exc + Inh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75904" y="2066544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94192" y="2093976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40%↓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98280" y="2066544"/>
            <a:ext cx="84124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116567" y="2093976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perm p=0.024~0.041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976104" y="2066544"/>
            <a:ext cx="1874519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994392" y="2093976"/>
            <a:ext cx="18379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도너-level 검증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7920" y="2487168"/>
            <a:ext cx="676656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36207" y="25146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202020"/>
                </a:solidFill>
              </a:rPr>
              <a:t>NDUFS7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31152" y="2487168"/>
            <a:ext cx="685800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49440" y="2514600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Q-module PSST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653527" y="2487168"/>
            <a:ext cx="685800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71815" y="2514600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Excitatory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375904" y="2487168"/>
            <a:ext cx="685800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394192" y="2514600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5%↓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98280" y="2487168"/>
            <a:ext cx="841248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116567" y="2514600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perm p=0.048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976104" y="2487168"/>
            <a:ext cx="1874519" cy="402336"/>
          </a:xfrm>
          <a:prstGeom prst="rect">
            <a:avLst/>
          </a:prstGeom>
          <a:solidFill>
            <a:srgbClr val="F5F0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994392" y="2514600"/>
            <a:ext cx="18379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Cross-tissue 수렴 (근육 SRA 확인)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17920" y="2907792"/>
            <a:ext cx="676656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36207" y="29352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 i="0">
                <a:solidFill>
                  <a:srgbClr val="202020"/>
                </a:solidFill>
              </a:rPr>
              <a:t>NDUFAF5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31152" y="2907792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0" y="2935224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Assembly factor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653527" y="2907792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671815" y="2935224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Excitatory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375904" y="2907792"/>
            <a:ext cx="68580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394192" y="2935224"/>
            <a:ext cx="649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NMD↑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98280" y="2907792"/>
            <a:ext cx="841248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116567" y="2935224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stageR p=1.4×10⁻⁴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976104" y="2907792"/>
            <a:ext cx="1874519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994392" y="2935224"/>
            <a:ext cx="18379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N-module assembly 방해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3291840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0080"/>
                </a:solidFill>
              </a:rPr>
              <a:t>★ NDUFS8: 뇌(localization switch) vs 근육(domain loss) = 다른 경로 → 동일 기능 결손
→ Complex I 아이소폼 붕괴의 최초 단일세포 분해능 증거 (3 subunit × 2 module × 2 cell type)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17920" y="3703320"/>
            <a:ext cx="283464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272783" y="37307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DOCK-family GEF 손실 (2개 독립 발견)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17920" y="3931920"/>
            <a:ext cx="621792" cy="18288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236207" y="3941063"/>
            <a:ext cx="5852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유전자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76288" y="3931920"/>
            <a:ext cx="694944" cy="18288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894575" y="3941063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세포유형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607808" y="3931920"/>
            <a:ext cx="969264" cy="18288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26096" y="3941063"/>
            <a:ext cx="9326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효과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613648" y="3931920"/>
            <a:ext cx="786384" cy="18288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631936" y="3941063"/>
            <a:ext cx="7498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발견 경로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436608" y="3931920"/>
            <a:ext cx="1463040" cy="18288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454896" y="3941063"/>
            <a:ext cx="14264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분자 결과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217920" y="4133087"/>
            <a:ext cx="621792" cy="402336"/>
          </a:xfrm>
          <a:prstGeom prst="rect">
            <a:avLst/>
          </a:prstGeom>
          <a:solidFill>
            <a:srgbClr val="E6F2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236207" y="4160520"/>
            <a:ext cx="585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DOCK11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876288" y="4133087"/>
            <a:ext cx="694944" cy="402336"/>
          </a:xfrm>
          <a:prstGeom prst="rect">
            <a:avLst/>
          </a:prstGeom>
          <a:solidFill>
            <a:srgbClr val="E6F2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894575" y="41605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Inhibitory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607808" y="4133087"/>
            <a:ext cx="969264" cy="402336"/>
          </a:xfrm>
          <a:prstGeom prst="rect">
            <a:avLst/>
          </a:prstGeom>
          <a:solidFill>
            <a:srgbClr val="E6F2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26096" y="4160520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DHR2 GEF domain
26.4%→2.0%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613648" y="4133087"/>
            <a:ext cx="786384" cy="402336"/>
          </a:xfrm>
          <a:prstGeom prst="rect">
            <a:avLst/>
          </a:prstGeom>
          <a:solidFill>
            <a:srgbClr val="E6F2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631936" y="416052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BISECT Tier A-BP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436608" y="4133087"/>
            <a:ext cx="1463040" cy="402336"/>
          </a:xfrm>
          <a:prstGeom prst="rect">
            <a:avLst/>
          </a:prstGeom>
          <a:solidFill>
            <a:srgbClr val="E6F2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454896" y="4160520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CDC42 활성화 불가
→ actin/시냅스 손상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217920" y="4553712"/>
            <a:ext cx="6217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36207" y="4581144"/>
            <a:ext cx="585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DOCK10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876288" y="4553712"/>
            <a:ext cx="694944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894575" y="4581144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Microglia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607808" y="4553712"/>
            <a:ext cx="969264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26096" y="4581144"/>
            <a:ext cx="932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Δ=−0.573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613648" y="4553712"/>
            <a:ext cx="786384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631936" y="4581144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DRIMSeq Tier A-DR
p=0.005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436608" y="4553712"/>
            <a:ext cx="146304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454896" y="4581144"/>
            <a:ext cx="14264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202020"/>
                </a:solidFill>
              </a:rPr>
              <a:t>미세아교세포 이동 장애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217920" y="4983480"/>
            <a:ext cx="32004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272783" y="50109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ZNF736 — 전체 패널 최강 통계 신호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217920" y="5230368"/>
            <a:ext cx="5715000" cy="1325880"/>
          </a:xfrm>
          <a:prstGeom prst="rect">
            <a:avLst/>
          </a:prstGeom>
          <a:solidFill>
            <a:srgbClr val="FFF5E0"/>
          </a:solidFill>
          <a:ln w="15240">
            <a:solidFill>
              <a:srgbClr val="B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91072" y="52578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DRIMSeq p-value: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863840" y="5257800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9.91×10⁻²⁸  (패널 최강)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91072" y="547268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stageR OFDR p: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863840" y="5472684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2.67×10⁻²⁴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291072" y="568756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도메인 분율 변화: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63840" y="5687568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CT=0.979 → AD=0.193  (Δ=−0.786, 79.6%↓)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91072" y="590245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Switch 방향: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863840" y="5902452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ZNF736-202 (KRAB+C2H2 보유) → NNIC (전체 도메인 소실)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291072" y="61173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예측 결과: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863840" y="6117336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KRAB 억제 소실 → transposable element derepression 가능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291072" y="633222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6000"/>
                </a:solidFill>
              </a:rPr>
              <a:t>Layer gradient: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863840" y="6332220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02000"/>
                </a:solidFill>
              </a:rPr>
              <a:t>C27(L2/3) rho=+0.593, p=0.016  (상층에서 보존)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74320" y="6629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A0"/>
                </a:solidFill>
              </a:rPr>
              <a:t>PRISM+BISECT | 2026-07-02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795760" y="6629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0A0A0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